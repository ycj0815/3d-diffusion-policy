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240000" cy="8572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00" userDrawn="1">
          <p15:clr>
            <a:srgbClr val="A4A3A4"/>
          </p15:clr>
        </p15:guide>
        <p15:guide id="2" pos="4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98"/>
  </p:normalViewPr>
  <p:slideViewPr>
    <p:cSldViewPr snapToGrid="0" showGuides="1">
      <p:cViewPr varScale="1">
        <p:scale>
          <a:sx n="95" d="100"/>
          <a:sy n="95" d="100"/>
        </p:scale>
        <p:origin x="856" y="176"/>
      </p:cViewPr>
      <p:guideLst>
        <p:guide orient="horz" pos="2700"/>
        <p:guide pos="4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figure-title">
            <a:extLst>
              <a:ext uri="{FF2B5EF4-FFF2-40B4-BE49-F238E27FC236}">
                <a16:creationId xmlns:a16="http://schemas.microsoft.com/office/drawing/2014/main" id="{F1BAFE4E-036D-4500-861C-242118993F14}"/>
              </a:ext>
            </a:extLst>
          </p:cNvPr>
          <p:cNvSpPr>
            <a:spLocks noGrp="1"/>
          </p:cNvSpPr>
          <p:nvPr/>
        </p:nvSpPr>
        <p:spPr>
          <a:xfrm>
            <a:off x="571500" y="2286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fontScale="95238"/>
          </a:bodyPr>
          <a:lstStyle/>
          <a:p>
            <a:pPr algn="l">
              <a:defRPr sz="31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C-Space-Conditioned 3D Diffusion Policy</a:t>
            </a:r>
          </a:p>
        </p:txBody>
      </p:sp>
      <p:sp>
        <p:nvSpPr>
          <p:cNvPr id="2" name="figure-subtitle">
            <a:extLst>
              <a:ext uri="{FF2B5EF4-FFF2-40B4-BE49-F238E27FC236}">
                <a16:creationId xmlns:a16="http://schemas.microsoft.com/office/drawing/2014/main" id="{61FAD171-3C45-460E-BA78-C7C53CDBF10F}"/>
              </a:ext>
            </a:extLst>
          </p:cNvPr>
          <p:cNvSpPr>
            <a:spLocks noGrp="1"/>
          </p:cNvSpPr>
          <p:nvPr/>
        </p:nvSpPr>
        <p:spPr>
          <a:xfrm>
            <a:off x="571500" y="695325"/>
            <a:ext cx="9334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Multi-modal observation encoding and FiLM-conditioned temporal denoising</a:t>
            </a:r>
          </a:p>
        </p:txBody>
      </p:sp>
      <p:sp>
        <p:nvSpPr>
          <p:cNvPr id="3" name="tensor-notation">
            <a:extLst>
              <a:ext uri="{FF2B5EF4-FFF2-40B4-BE49-F238E27FC236}">
                <a16:creationId xmlns:a16="http://schemas.microsoft.com/office/drawing/2014/main" id="{BC01A36E-EA90-4768-89C7-E9A7A45B36EC}"/>
              </a:ext>
            </a:extLst>
          </p:cNvPr>
          <p:cNvSpPr>
            <a:spLocks noGrp="1"/>
          </p:cNvSpPr>
          <p:nvPr/>
        </p:nvSpPr>
        <p:spPr>
          <a:xfrm>
            <a:off x="10572750" y="4381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defRPr sz="120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Tensor notation: B = batch size, T = trajectory horizon</a:t>
            </a:r>
          </a:p>
        </p:txBody>
      </p:sp>
      <p:sp>
        <p:nvSpPr>
          <p:cNvPr id="4" name="label-observation">
            <a:extLst>
              <a:ext uri="{FF2B5EF4-FFF2-40B4-BE49-F238E27FC236}">
                <a16:creationId xmlns:a16="http://schemas.microsoft.com/office/drawing/2014/main" id="{657CC22C-5CA7-4A35-BB2E-5A734ECC4BF7}"/>
              </a:ext>
            </a:extLst>
          </p:cNvPr>
          <p:cNvSpPr>
            <a:spLocks noGrp="1"/>
          </p:cNvSpPr>
          <p:nvPr/>
        </p:nvSpPr>
        <p:spPr>
          <a:xfrm>
            <a:off x="571500" y="11049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425" b="1">
                <a:solidFill>
                  <a:srgbClr val="4C78A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78A8"/>
                </a:solidFill>
                <a:latin typeface="Arial"/>
                <a:ea typeface="Arial"/>
                <a:cs typeface="Arial"/>
              </a:rPr>
              <a:t>A  Observation encoder</a:t>
            </a:r>
          </a:p>
        </p:txBody>
      </p:sp>
      <p:sp>
        <p:nvSpPr>
          <p:cNvPr id="5" name="label-observation-rule">
            <a:extLst>
              <a:ext uri="{FF2B5EF4-FFF2-40B4-BE49-F238E27FC236}">
                <a16:creationId xmlns:a16="http://schemas.microsoft.com/office/drawing/2014/main" id="{3B1441B0-5696-4DD4-842F-481B5E2D6BDF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4762500" cy="0"/>
          </a:xfrm>
          <a:prstGeom prst="line">
            <a:avLst/>
          </a:prstGeom>
          <a:noFill/>
          <a:ln w="23813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label-cspace">
            <a:extLst>
              <a:ext uri="{FF2B5EF4-FFF2-40B4-BE49-F238E27FC236}">
                <a16:creationId xmlns:a16="http://schemas.microsoft.com/office/drawing/2014/main" id="{2096A22D-42B3-4A7A-8DE0-D050D760B945}"/>
              </a:ext>
            </a:extLst>
          </p:cNvPr>
          <p:cNvSpPr>
            <a:spLocks noGrp="1"/>
          </p:cNvSpPr>
          <p:nvPr/>
        </p:nvSpPr>
        <p:spPr>
          <a:xfrm>
            <a:off x="571500" y="42386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425" b="1">
                <a:solidFill>
                  <a:srgbClr val="C987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8720"/>
                </a:solidFill>
                <a:latin typeface="Arial"/>
                <a:ea typeface="Arial"/>
                <a:cs typeface="Arial"/>
              </a:rPr>
              <a:t>B  C-space encoder</a:t>
            </a:r>
          </a:p>
        </p:txBody>
      </p:sp>
      <p:sp>
        <p:nvSpPr>
          <p:cNvPr id="7" name="label-cspace-rule">
            <a:extLst>
              <a:ext uri="{FF2B5EF4-FFF2-40B4-BE49-F238E27FC236}">
                <a16:creationId xmlns:a16="http://schemas.microsoft.com/office/drawing/2014/main" id="{ECA652DF-8AB1-4994-B5D8-BE79ADDA7FE7}"/>
              </a:ext>
            </a:extLst>
          </p:cNvPr>
          <p:cNvSpPr>
            <a:spLocks noGrp="1"/>
          </p:cNvSpPr>
          <p:nvPr/>
        </p:nvSpPr>
        <p:spPr>
          <a:xfrm>
            <a:off x="571500" y="4543425"/>
            <a:ext cx="4762500" cy="0"/>
          </a:xfrm>
          <a:prstGeom prst="line">
            <a:avLst/>
          </a:prstGeom>
          <a:noFill/>
          <a:ln w="23813">
            <a:solidFill>
              <a:srgbClr val="C987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label-conditioning">
            <a:extLst>
              <a:ext uri="{FF2B5EF4-FFF2-40B4-BE49-F238E27FC236}">
                <a16:creationId xmlns:a16="http://schemas.microsoft.com/office/drawing/2014/main" id="{564FB014-BFD4-418A-9CF3-0D2826AB40CD}"/>
              </a:ext>
            </a:extLst>
          </p:cNvPr>
          <p:cNvSpPr>
            <a:spLocks noGrp="1"/>
          </p:cNvSpPr>
          <p:nvPr/>
        </p:nvSpPr>
        <p:spPr>
          <a:xfrm>
            <a:off x="5619750" y="11049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425" b="1">
                <a:solidFill>
                  <a:srgbClr val="4C8E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8E5F"/>
                </a:solidFill>
                <a:latin typeface="Arial"/>
                <a:ea typeface="Arial"/>
                <a:cs typeface="Arial"/>
              </a:rPr>
              <a:t>C  Global conditioning</a:t>
            </a:r>
          </a:p>
        </p:txBody>
      </p:sp>
      <p:sp>
        <p:nvSpPr>
          <p:cNvPr id="9" name="label-conditioning-rule">
            <a:extLst>
              <a:ext uri="{FF2B5EF4-FFF2-40B4-BE49-F238E27FC236}">
                <a16:creationId xmlns:a16="http://schemas.microsoft.com/office/drawing/2014/main" id="{7761B96F-041C-42AF-8F78-2D25383A14FA}"/>
              </a:ext>
            </a:extLst>
          </p:cNvPr>
          <p:cNvSpPr>
            <a:spLocks noGrp="1"/>
          </p:cNvSpPr>
          <p:nvPr/>
        </p:nvSpPr>
        <p:spPr>
          <a:xfrm>
            <a:off x="5619750" y="1409700"/>
            <a:ext cx="2571750" cy="0"/>
          </a:xfrm>
          <a:prstGeom prst="line">
            <a:avLst/>
          </a:prstGeom>
          <a:noFill/>
          <a:ln w="23813">
            <a:solidFill>
              <a:srgbClr val="4C8E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label-unet">
            <a:extLst>
              <a:ext uri="{FF2B5EF4-FFF2-40B4-BE49-F238E27FC236}">
                <a16:creationId xmlns:a16="http://schemas.microsoft.com/office/drawing/2014/main" id="{E346F43F-1A4E-420F-89FB-76D0B5A80D57}"/>
              </a:ext>
            </a:extLst>
          </p:cNvPr>
          <p:cNvSpPr>
            <a:spLocks noGrp="1"/>
          </p:cNvSpPr>
          <p:nvPr/>
        </p:nvSpPr>
        <p:spPr>
          <a:xfrm>
            <a:off x="8477250" y="110490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425" b="1">
                <a:solidFill>
                  <a:srgbClr val="7B61A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B61A8"/>
                </a:solidFill>
                <a:latin typeface="Arial"/>
                <a:ea typeface="Arial"/>
                <a:cs typeface="Arial"/>
              </a:rPr>
              <a:t>D  Conditional 1D U-Net</a:t>
            </a:r>
          </a:p>
        </p:txBody>
      </p:sp>
      <p:sp>
        <p:nvSpPr>
          <p:cNvPr id="11" name="label-unet-rule">
            <a:extLst>
              <a:ext uri="{FF2B5EF4-FFF2-40B4-BE49-F238E27FC236}">
                <a16:creationId xmlns:a16="http://schemas.microsoft.com/office/drawing/2014/main" id="{EFD0D373-C87F-47EF-A726-C8FAE59D81B1}"/>
              </a:ext>
            </a:extLst>
          </p:cNvPr>
          <p:cNvSpPr>
            <a:spLocks noGrp="1"/>
          </p:cNvSpPr>
          <p:nvPr/>
        </p:nvSpPr>
        <p:spPr>
          <a:xfrm>
            <a:off x="8477250" y="1409700"/>
            <a:ext cx="6191250" cy="0"/>
          </a:xfrm>
          <a:prstGeom prst="line">
            <a:avLst/>
          </a:prstGeom>
          <a:noFill/>
          <a:ln w="23813">
            <a:solidFill>
              <a:srgbClr val="7B61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point-cloud-input">
            <a:extLst>
              <a:ext uri="{FF2B5EF4-FFF2-40B4-BE49-F238E27FC236}">
                <a16:creationId xmlns:a16="http://schemas.microsoft.com/office/drawing/2014/main" id="{9D2DC420-05D0-49F0-8092-9B15504C6977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1238250" cy="704850"/>
          </a:xfrm>
          <a:prstGeom prst="roundRect">
            <a:avLst>
              <a:gd name="adj" fmla="val 16216"/>
            </a:avLst>
          </a:prstGeom>
          <a:solidFill>
            <a:srgbClr val="EAF2FA"/>
          </a:solidFill>
          <a:ln w="17145">
            <a:solidFill>
              <a:srgbClr val="4C78A8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Point cloud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B × 1024 × 3</a:t>
            </a:r>
          </a:p>
        </p:txBody>
      </p:sp>
      <p:sp>
        <p:nvSpPr>
          <p:cNvPr id="13" name="pointnet-mlp">
            <a:extLst>
              <a:ext uri="{FF2B5EF4-FFF2-40B4-BE49-F238E27FC236}">
                <a16:creationId xmlns:a16="http://schemas.microsoft.com/office/drawing/2014/main" id="{8618CD57-19CF-4623-A4AA-44552752AE18}"/>
              </a:ext>
            </a:extLst>
          </p:cNvPr>
          <p:cNvSpPr>
            <a:spLocks noGrp="1"/>
          </p:cNvSpPr>
          <p:nvPr/>
        </p:nvSpPr>
        <p:spPr>
          <a:xfrm>
            <a:off x="2114550" y="1619250"/>
            <a:ext cx="1619250" cy="895350"/>
          </a:xfrm>
          <a:prstGeom prst="roundRect">
            <a:avLst>
              <a:gd name="adj" fmla="val 12766"/>
            </a:avLst>
          </a:prstGeom>
          <a:solidFill>
            <a:srgbClr val="EAF2FA"/>
          </a:solidFill>
          <a:ln w="17145">
            <a:solidFill>
              <a:srgbClr val="4C78A8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PointNet MLP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3 → 64 → 128 → 256
LN + ReLU</a:t>
            </a:r>
          </a:p>
        </p:txBody>
      </p:sp>
      <p:sp>
        <p:nvSpPr>
          <p:cNvPr id="14" name="pointnet-pool">
            <a:extLst>
              <a:ext uri="{FF2B5EF4-FFF2-40B4-BE49-F238E27FC236}">
                <a16:creationId xmlns:a16="http://schemas.microsoft.com/office/drawing/2014/main" id="{978FBFA4-EF60-437F-9540-EDE1250DF63D}"/>
              </a:ext>
            </a:extLst>
          </p:cNvPr>
          <p:cNvSpPr>
            <a:spLocks noGrp="1"/>
          </p:cNvSpPr>
          <p:nvPr/>
        </p:nvSpPr>
        <p:spPr>
          <a:xfrm>
            <a:off x="4038600" y="1714500"/>
            <a:ext cx="1295400" cy="704850"/>
          </a:xfrm>
          <a:prstGeom prst="roundRect">
            <a:avLst>
              <a:gd name="adj" fmla="val 16216"/>
            </a:avLst>
          </a:prstGeom>
          <a:solidFill>
            <a:srgbClr val="EAF2FA"/>
          </a:solidFill>
          <a:ln w="17145">
            <a:solidFill>
              <a:srgbClr val="4C78A8"/>
            </a:solidFill>
            <a:prstDash val="solid"/>
          </a:ln>
        </p:spPr>
        <p:txBody>
          <a:bodyPr lIns="76200" tIns="57150" rIns="76200" bIns="57150" anchor="ctr">
            <a:normAutofit fontScale="93488"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Max pool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1024 points → 256</a:t>
            </a:r>
          </a:p>
        </p:txBody>
      </p:sp>
      <p:sp>
        <p:nvSpPr>
          <p:cNvPr id="15" name="point-projection">
            <a:extLst>
              <a:ext uri="{FF2B5EF4-FFF2-40B4-BE49-F238E27FC236}">
                <a16:creationId xmlns:a16="http://schemas.microsoft.com/office/drawing/2014/main" id="{B912A2E8-7CE5-4AE5-A472-1EFEDF3B5336}"/>
              </a:ext>
            </a:extLst>
          </p:cNvPr>
          <p:cNvSpPr>
            <a:spLocks noGrp="1"/>
          </p:cNvSpPr>
          <p:nvPr/>
        </p:nvSpPr>
        <p:spPr>
          <a:xfrm>
            <a:off x="4038600" y="2609850"/>
            <a:ext cx="1295400" cy="647700"/>
          </a:xfrm>
          <a:prstGeom prst="roundRect">
            <a:avLst>
              <a:gd name="adj" fmla="val 17647"/>
            </a:avLst>
          </a:prstGeom>
          <a:solidFill>
            <a:srgbClr val="EAF2FA"/>
          </a:solidFill>
          <a:ln w="17145">
            <a:solidFill>
              <a:srgbClr val="4C78A8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Projection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256 → 64 + LN</a:t>
            </a:r>
          </a:p>
        </p:txBody>
      </p:sp>
      <p:sp>
        <p:nvSpPr>
          <p:cNvPr id="16" name="lowdim-inputs">
            <a:extLst>
              <a:ext uri="{FF2B5EF4-FFF2-40B4-BE49-F238E27FC236}">
                <a16:creationId xmlns:a16="http://schemas.microsoft.com/office/drawing/2014/main" id="{5F3C15BA-AA36-4051-BDE3-D76788EFC85B}"/>
              </a:ext>
            </a:extLst>
          </p:cNvPr>
          <p:cNvSpPr>
            <a:spLocks noGrp="1"/>
          </p:cNvSpPr>
          <p:nvPr/>
        </p:nvSpPr>
        <p:spPr>
          <a:xfrm>
            <a:off x="571500" y="2771775"/>
            <a:ext cx="1543050" cy="1066800"/>
          </a:xfrm>
          <a:prstGeom prst="roundRect">
            <a:avLst>
              <a:gd name="adj" fmla="val 10714"/>
            </a:avLst>
          </a:prstGeom>
          <a:solidFill>
            <a:srgbClr val="E7F5F2"/>
          </a:solidFill>
          <a:ln w="17145">
            <a:solidFill>
              <a:srgbClr val="388C7C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Low-dimensional state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36071"/>
                </a:solidFill>
                <a:latin typeface="Arial"/>
                <a:ea typeface="Arial"/>
                <a:cs typeface="Arial"/>
              </a:rPr>
              <a:t>goal position: 3
goal direction: 6
start/end joints: 6 + 6</a:t>
            </a:r>
          </a:p>
        </p:txBody>
      </p:sp>
      <p:sp>
        <p:nvSpPr>
          <p:cNvPr id="17" name="state-mlps">
            <a:extLst>
              <a:ext uri="{FF2B5EF4-FFF2-40B4-BE49-F238E27FC236}">
                <a16:creationId xmlns:a16="http://schemas.microsoft.com/office/drawing/2014/main" id="{EF0221CA-CEFC-4286-BBE3-640635669BC4}"/>
              </a:ext>
            </a:extLst>
          </p:cNvPr>
          <p:cNvSpPr>
            <a:spLocks noGrp="1"/>
          </p:cNvSpPr>
          <p:nvPr/>
        </p:nvSpPr>
        <p:spPr>
          <a:xfrm>
            <a:off x="2419350" y="2914650"/>
            <a:ext cx="1524000" cy="781050"/>
          </a:xfrm>
          <a:prstGeom prst="roundRect">
            <a:avLst>
              <a:gd name="adj" fmla="val 14634"/>
            </a:avLst>
          </a:prstGeom>
          <a:solidFill>
            <a:srgbClr val="E7F5F2"/>
          </a:solidFill>
          <a:ln w="17145">
            <a:solidFill>
              <a:srgbClr val="388C7C"/>
            </a:solidFill>
            <a:prstDash val="solid"/>
          </a:ln>
        </p:spPr>
        <p:txBody>
          <a:bodyPr lIns="76200" tIns="57150" rIns="76200" bIns="57150" anchor="ctr">
            <a:normAutofit fontScale="77170"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4 independent MLPs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dᵢ → 32 → 32
ReLU</a:t>
            </a:r>
          </a:p>
        </p:txBody>
      </p:sp>
      <p:sp>
        <p:nvSpPr>
          <p:cNvPr id="18" name="observation-concat">
            <a:extLst>
              <a:ext uri="{FF2B5EF4-FFF2-40B4-BE49-F238E27FC236}">
                <a16:creationId xmlns:a16="http://schemas.microsoft.com/office/drawing/2014/main" id="{F6796559-0D2B-4DAF-A04C-44B0D46E1740}"/>
              </a:ext>
            </a:extLst>
          </p:cNvPr>
          <p:cNvSpPr>
            <a:spLocks noGrp="1"/>
          </p:cNvSpPr>
          <p:nvPr/>
        </p:nvSpPr>
        <p:spPr>
          <a:xfrm>
            <a:off x="4114800" y="3352800"/>
            <a:ext cx="1219200" cy="628650"/>
          </a:xfrm>
          <a:prstGeom prst="roundRect">
            <a:avLst>
              <a:gd name="adj" fmla="val 18182"/>
            </a:avLst>
          </a:prstGeom>
          <a:solidFill>
            <a:srgbClr val="EAF5EC"/>
          </a:solidFill>
          <a:ln w="17145">
            <a:solidFill>
              <a:srgbClr val="4C8E5F"/>
            </a:solidFill>
            <a:prstDash val="solid"/>
          </a:ln>
        </p:spPr>
        <p:txBody>
          <a:bodyPr lIns="76200" tIns="57150" rIns="76200" bIns="57150" anchor="ctr">
            <a:normAutofit fontScale="79882"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Concatenate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64 + 4 × 32 = 192
Dropout 0.1</a:t>
            </a:r>
          </a:p>
        </p:txBody>
      </p:sp>
      <p:sp>
        <p:nvSpPr>
          <p:cNvPr id="19" name="cspace-input">
            <a:extLst>
              <a:ext uri="{FF2B5EF4-FFF2-40B4-BE49-F238E27FC236}">
                <a16:creationId xmlns:a16="http://schemas.microsoft.com/office/drawing/2014/main" id="{4C6A9457-6935-4699-B0E0-8DD5D3665C45}"/>
              </a:ext>
            </a:extLst>
          </p:cNvPr>
          <p:cNvSpPr>
            <a:spLocks noGrp="1"/>
          </p:cNvSpPr>
          <p:nvPr/>
        </p:nvSpPr>
        <p:spPr>
          <a:xfrm>
            <a:off x="571500" y="4857750"/>
            <a:ext cx="1352550" cy="742950"/>
          </a:xfrm>
          <a:prstGeom prst="roundRect">
            <a:avLst>
              <a:gd name="adj" fmla="val 15385"/>
            </a:avLst>
          </a:prstGeom>
          <a:solidFill>
            <a:srgbClr val="FFF3DC"/>
          </a:solidFill>
          <a:ln w="17145">
            <a:solidFill>
              <a:srgbClr val="C98720"/>
            </a:solidFill>
            <a:prstDash val="solid"/>
          </a:ln>
        </p:spPr>
        <p:txBody>
          <a:bodyPr lIns="76200" tIns="57150" rIns="76200" bIns="57150" anchor="ctr">
            <a:normAutofit fontScale="92721"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C-space features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B × 128 × 2</a:t>
            </a:r>
          </a:p>
        </p:txBody>
      </p:sp>
      <p:sp>
        <p:nvSpPr>
          <p:cNvPr id="20" name="cspace-point-mlp">
            <a:extLst>
              <a:ext uri="{FF2B5EF4-FFF2-40B4-BE49-F238E27FC236}">
                <a16:creationId xmlns:a16="http://schemas.microsoft.com/office/drawing/2014/main" id="{7E9DAD77-740D-4CD2-8F4B-7BA56F4C5C37}"/>
              </a:ext>
            </a:extLst>
          </p:cNvPr>
          <p:cNvSpPr>
            <a:spLocks noGrp="1"/>
          </p:cNvSpPr>
          <p:nvPr/>
        </p:nvSpPr>
        <p:spPr>
          <a:xfrm>
            <a:off x="2209800" y="4762500"/>
            <a:ext cx="1562100" cy="914400"/>
          </a:xfrm>
          <a:prstGeom prst="roundRect">
            <a:avLst>
              <a:gd name="adj" fmla="val 12500"/>
            </a:avLst>
          </a:prstGeom>
          <a:solidFill>
            <a:srgbClr val="FFF3DC"/>
          </a:solidFill>
          <a:ln w="17145">
            <a:solidFill>
              <a:srgbClr val="C98720"/>
            </a:solidFill>
            <a:prstDash val="solid"/>
          </a:ln>
        </p:spPr>
        <p:txBody>
          <a:bodyPr lIns="76200" tIns="57150" rIns="76200" bIns="57150" anchor="ctr">
            <a:normAutofit fontScale="94327"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Shared point MLP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2 → 32 → 64
LN + ReLU</a:t>
            </a:r>
          </a:p>
        </p:txBody>
      </p:sp>
      <p:sp>
        <p:nvSpPr>
          <p:cNvPr id="21" name="cspace-pooling">
            <a:extLst>
              <a:ext uri="{FF2B5EF4-FFF2-40B4-BE49-F238E27FC236}">
                <a16:creationId xmlns:a16="http://schemas.microsoft.com/office/drawing/2014/main" id="{A7989EE4-AF65-4AE4-93E5-87FA78A56A74}"/>
              </a:ext>
            </a:extLst>
          </p:cNvPr>
          <p:cNvSpPr>
            <a:spLocks noGrp="1"/>
          </p:cNvSpPr>
          <p:nvPr/>
        </p:nvSpPr>
        <p:spPr>
          <a:xfrm>
            <a:off x="4057650" y="4857750"/>
            <a:ext cx="1276350" cy="742950"/>
          </a:xfrm>
          <a:prstGeom prst="roundRect">
            <a:avLst>
              <a:gd name="adj" fmla="val 15385"/>
            </a:avLst>
          </a:prstGeom>
          <a:solidFill>
            <a:srgbClr val="FFF3DC"/>
          </a:solidFill>
          <a:ln w="17145">
            <a:solidFill>
              <a:srgbClr val="C98720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Mean ∥ Max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64 + 64 = 128</a:t>
            </a:r>
          </a:p>
        </p:txBody>
      </p:sp>
      <p:sp>
        <p:nvSpPr>
          <p:cNvPr id="22" name="cspace-projection">
            <a:extLst>
              <a:ext uri="{FF2B5EF4-FFF2-40B4-BE49-F238E27FC236}">
                <a16:creationId xmlns:a16="http://schemas.microsoft.com/office/drawing/2014/main" id="{2388DA5B-ADC3-4568-B0A2-7CB8CCB2080F}"/>
              </a:ext>
            </a:extLst>
          </p:cNvPr>
          <p:cNvSpPr>
            <a:spLocks noGrp="1"/>
          </p:cNvSpPr>
          <p:nvPr/>
        </p:nvSpPr>
        <p:spPr>
          <a:xfrm>
            <a:off x="4057650" y="5857875"/>
            <a:ext cx="1276350" cy="781050"/>
          </a:xfrm>
          <a:prstGeom prst="roundRect">
            <a:avLst>
              <a:gd name="adj" fmla="val 14634"/>
            </a:avLst>
          </a:prstGeom>
          <a:solidFill>
            <a:srgbClr val="FFF3DC"/>
          </a:solidFill>
          <a:ln w="17145">
            <a:solidFill>
              <a:srgbClr val="C98720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Projection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128 → 64
LN + ReLU</a:t>
            </a:r>
          </a:p>
        </p:txBody>
      </p:sp>
      <p:sp>
        <p:nvSpPr>
          <p:cNvPr id="23" name="feature-fusion">
            <a:extLst>
              <a:ext uri="{FF2B5EF4-FFF2-40B4-BE49-F238E27FC236}">
                <a16:creationId xmlns:a16="http://schemas.microsoft.com/office/drawing/2014/main" id="{105B2416-375B-45D1-9962-C0A039573F65}"/>
              </a:ext>
            </a:extLst>
          </p:cNvPr>
          <p:cNvSpPr>
            <a:spLocks noGrp="1"/>
          </p:cNvSpPr>
          <p:nvPr/>
        </p:nvSpPr>
        <p:spPr>
          <a:xfrm>
            <a:off x="5905500" y="1943100"/>
            <a:ext cx="2000250" cy="742950"/>
          </a:xfrm>
          <a:prstGeom prst="roundRect">
            <a:avLst>
              <a:gd name="adj" fmla="val 15385"/>
            </a:avLst>
          </a:prstGeom>
          <a:solidFill>
            <a:srgbClr val="EAF5EC"/>
          </a:solidFill>
          <a:ln w="17145">
            <a:solidFill>
              <a:srgbClr val="4C8E5F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Feature fusion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192 ∥ 64 = 256</a:t>
            </a:r>
          </a:p>
        </p:txBody>
      </p:sp>
      <p:sp>
        <p:nvSpPr>
          <p:cNvPr id="24" name="fusion-mlp">
            <a:extLst>
              <a:ext uri="{FF2B5EF4-FFF2-40B4-BE49-F238E27FC236}">
                <a16:creationId xmlns:a16="http://schemas.microsoft.com/office/drawing/2014/main" id="{2E95D662-2F62-4E0E-BC1B-4C2C95EE8240}"/>
              </a:ext>
            </a:extLst>
          </p:cNvPr>
          <p:cNvSpPr>
            <a:spLocks noGrp="1"/>
          </p:cNvSpPr>
          <p:nvPr/>
        </p:nvSpPr>
        <p:spPr>
          <a:xfrm>
            <a:off x="5905500" y="2962275"/>
            <a:ext cx="2000250" cy="838200"/>
          </a:xfrm>
          <a:prstGeom prst="roundRect">
            <a:avLst>
              <a:gd name="adj" fmla="val 13636"/>
            </a:avLst>
          </a:prstGeom>
          <a:solidFill>
            <a:srgbClr val="EAF5EC"/>
          </a:solidFill>
          <a:ln w="17145">
            <a:solidFill>
              <a:srgbClr val="4C8E5F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Fusion MLP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Linear 256 → 256
LN + ReLU</a:t>
            </a:r>
          </a:p>
        </p:txBody>
      </p:sp>
      <p:sp>
        <p:nvSpPr>
          <p:cNvPr id="25" name="global-condition">
            <a:extLst>
              <a:ext uri="{FF2B5EF4-FFF2-40B4-BE49-F238E27FC236}">
                <a16:creationId xmlns:a16="http://schemas.microsoft.com/office/drawing/2014/main" id="{829FEEA3-0485-4021-AECB-38A1221EF7A0}"/>
              </a:ext>
            </a:extLst>
          </p:cNvPr>
          <p:cNvSpPr>
            <a:spLocks noGrp="1"/>
          </p:cNvSpPr>
          <p:nvPr/>
        </p:nvSpPr>
        <p:spPr>
          <a:xfrm>
            <a:off x="5905500" y="4076700"/>
            <a:ext cx="2000250" cy="704850"/>
          </a:xfrm>
          <a:prstGeom prst="roundRect">
            <a:avLst>
              <a:gd name="adj" fmla="val 16216"/>
            </a:avLst>
          </a:prstGeom>
          <a:solidFill>
            <a:srgbClr val="EAF5EC"/>
          </a:solidFill>
          <a:ln w="17145">
            <a:solidFill>
              <a:srgbClr val="4C8E5F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Global condition c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B × 256</a:t>
            </a:r>
          </a:p>
        </p:txBody>
      </p:sp>
      <p:sp>
        <p:nvSpPr>
          <p:cNvPr id="26" name="diffusion-timestep">
            <a:extLst>
              <a:ext uri="{FF2B5EF4-FFF2-40B4-BE49-F238E27FC236}">
                <a16:creationId xmlns:a16="http://schemas.microsoft.com/office/drawing/2014/main" id="{2EBD581F-3587-481F-9A6D-F0356D2AC319}"/>
              </a:ext>
            </a:extLst>
          </p:cNvPr>
          <p:cNvSpPr>
            <a:spLocks noGrp="1"/>
          </p:cNvSpPr>
          <p:nvPr/>
        </p:nvSpPr>
        <p:spPr>
          <a:xfrm>
            <a:off x="5905500" y="5343525"/>
            <a:ext cx="990600" cy="647700"/>
          </a:xfrm>
          <a:prstGeom prst="roundRect">
            <a:avLst>
              <a:gd name="adj" fmla="val 17647"/>
            </a:avLst>
          </a:prstGeom>
          <a:solidFill>
            <a:srgbClr val="F1EBF8"/>
          </a:solidFill>
          <a:ln w="17145">
            <a:solidFill>
              <a:srgbClr val="7B61A8"/>
            </a:solidFill>
            <a:prstDash val="solid"/>
          </a:ln>
        </p:spPr>
        <p:txBody>
          <a:bodyPr lIns="76200" tIns="57150" rIns="76200" bIns="57150" anchor="ctr">
            <a:normAutofit fontScale="76998"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Diffusion step t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scalar</a:t>
            </a:r>
          </a:p>
        </p:txBody>
      </p:sp>
      <p:sp>
        <p:nvSpPr>
          <p:cNvPr id="27" name="timestep-encoder">
            <a:extLst>
              <a:ext uri="{FF2B5EF4-FFF2-40B4-BE49-F238E27FC236}">
                <a16:creationId xmlns:a16="http://schemas.microsoft.com/office/drawing/2014/main" id="{3F67F776-7DFB-4A17-B095-975592A3AFC8}"/>
              </a:ext>
            </a:extLst>
          </p:cNvPr>
          <p:cNvSpPr>
            <a:spLocks noGrp="1"/>
          </p:cNvSpPr>
          <p:nvPr/>
        </p:nvSpPr>
        <p:spPr>
          <a:xfrm>
            <a:off x="7067550" y="5248275"/>
            <a:ext cx="1123950" cy="838200"/>
          </a:xfrm>
          <a:prstGeom prst="roundRect">
            <a:avLst>
              <a:gd name="adj" fmla="val 13636"/>
            </a:avLst>
          </a:prstGeom>
          <a:solidFill>
            <a:srgbClr val="F1EBF8"/>
          </a:solidFill>
          <a:ln w="17145">
            <a:solidFill>
              <a:srgbClr val="7B61A8"/>
            </a:solidFill>
            <a:prstDash val="solid"/>
          </a:ln>
        </p:spPr>
        <p:txBody>
          <a:bodyPr lIns="76200" tIns="57150" rIns="76200" bIns="57150" anchor="ctr">
            <a:normAutofit fontScale="84523"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Time encoder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Sinusoidal 64
64 → 256 → 64</a:t>
            </a:r>
          </a:p>
        </p:txBody>
      </p:sp>
      <p:sp>
        <p:nvSpPr>
          <p:cNvPr id="28" name="film-condition">
            <a:extLst>
              <a:ext uri="{FF2B5EF4-FFF2-40B4-BE49-F238E27FC236}">
                <a16:creationId xmlns:a16="http://schemas.microsoft.com/office/drawing/2014/main" id="{DD0EB26A-0C37-4C6E-A6D5-1104782D9039}"/>
              </a:ext>
            </a:extLst>
          </p:cNvPr>
          <p:cNvSpPr>
            <a:spLocks noGrp="1"/>
          </p:cNvSpPr>
          <p:nvPr/>
        </p:nvSpPr>
        <p:spPr>
          <a:xfrm>
            <a:off x="6457950" y="6496050"/>
            <a:ext cx="1638300" cy="800100"/>
          </a:xfrm>
          <a:prstGeom prst="roundRect">
            <a:avLst>
              <a:gd name="adj" fmla="val 14286"/>
            </a:avLst>
          </a:prstGeom>
          <a:solidFill>
            <a:srgbClr val="F1EBF8"/>
          </a:solidFill>
          <a:ln w="17145">
            <a:solidFill>
              <a:srgbClr val="7B61A8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FiLM condition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time 64 ∥ c 256
B × 320</a:t>
            </a:r>
          </a:p>
        </p:txBody>
      </p:sp>
      <p:sp>
        <p:nvSpPr>
          <p:cNvPr id="29" name="noisy-action">
            <a:extLst>
              <a:ext uri="{FF2B5EF4-FFF2-40B4-BE49-F238E27FC236}">
                <a16:creationId xmlns:a16="http://schemas.microsoft.com/office/drawing/2014/main" id="{D98CAC4C-685E-46C2-A1CC-BBD6B7E001B7}"/>
              </a:ext>
            </a:extLst>
          </p:cNvPr>
          <p:cNvSpPr>
            <a:spLocks noGrp="1"/>
          </p:cNvSpPr>
          <p:nvPr/>
        </p:nvSpPr>
        <p:spPr>
          <a:xfrm>
            <a:off x="8572500" y="1866900"/>
            <a:ext cx="1352550" cy="723900"/>
          </a:xfrm>
          <a:prstGeom prst="roundRect">
            <a:avLst>
              <a:gd name="adj" fmla="val 15789"/>
            </a:avLst>
          </a:prstGeom>
          <a:solidFill>
            <a:srgbClr val="FBEAEC"/>
          </a:solidFill>
          <a:ln w="17145">
            <a:solidFill>
              <a:srgbClr val="B75D69"/>
            </a:solidFill>
            <a:prstDash val="solid"/>
          </a:ln>
        </p:spPr>
        <p:txBody>
          <a:bodyPr lIns="76200" tIns="57150" rIns="76200" bIns="57150" anchor="ctr">
            <a:normAutofit fontScale="89577"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Noisy trajectory xₜ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B × 10 × 6</a:t>
            </a:r>
          </a:p>
        </p:txBody>
      </p:sp>
      <p:sp>
        <p:nvSpPr>
          <p:cNvPr id="30" name="unet-down-1">
            <a:extLst>
              <a:ext uri="{FF2B5EF4-FFF2-40B4-BE49-F238E27FC236}">
                <a16:creationId xmlns:a16="http://schemas.microsoft.com/office/drawing/2014/main" id="{FD082F13-8ED7-4EEB-8352-DE87615750FE}"/>
              </a:ext>
            </a:extLst>
          </p:cNvPr>
          <p:cNvSpPr>
            <a:spLocks noGrp="1"/>
          </p:cNvSpPr>
          <p:nvPr/>
        </p:nvSpPr>
        <p:spPr>
          <a:xfrm>
            <a:off x="10191750" y="1866900"/>
            <a:ext cx="1428750" cy="723900"/>
          </a:xfrm>
          <a:prstGeom prst="roundRect">
            <a:avLst>
              <a:gd name="adj" fmla="val 15789"/>
            </a:avLst>
          </a:prstGeom>
          <a:solidFill>
            <a:srgbClr val="F1EBF8"/>
          </a:solidFill>
          <a:ln w="17145">
            <a:solidFill>
              <a:srgbClr val="7B61A8"/>
            </a:solidFill>
            <a:prstDash val="solid"/>
          </a:ln>
        </p:spPr>
        <p:txBody>
          <a:bodyPr lIns="76200" tIns="57150" rIns="76200" bIns="57150" anchor="ctr">
            <a:normAutofit fontScale="93129"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FiLM ResBlock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6 → 64, T = 10</a:t>
            </a:r>
          </a:p>
        </p:txBody>
      </p:sp>
      <p:sp>
        <p:nvSpPr>
          <p:cNvPr id="31" name="unet-downsample">
            <a:extLst>
              <a:ext uri="{FF2B5EF4-FFF2-40B4-BE49-F238E27FC236}">
                <a16:creationId xmlns:a16="http://schemas.microsoft.com/office/drawing/2014/main" id="{9DBB1381-6DCE-43E1-90A4-CF7D6D2BF15C}"/>
              </a:ext>
            </a:extLst>
          </p:cNvPr>
          <p:cNvSpPr>
            <a:spLocks noGrp="1"/>
          </p:cNvSpPr>
          <p:nvPr/>
        </p:nvSpPr>
        <p:spPr>
          <a:xfrm>
            <a:off x="11887200" y="1866900"/>
            <a:ext cx="1333500" cy="723900"/>
          </a:xfrm>
          <a:prstGeom prst="roundRect">
            <a:avLst>
              <a:gd name="adj" fmla="val 15789"/>
            </a:avLst>
          </a:prstGeom>
          <a:solidFill>
            <a:srgbClr val="F4F6F8"/>
          </a:solidFill>
          <a:ln w="17145">
            <a:solidFill>
              <a:srgbClr val="7A8796"/>
            </a:solidFill>
            <a:prstDash val="solid"/>
          </a:ln>
        </p:spPr>
        <p:txBody>
          <a:bodyPr lIns="76200" tIns="57150" rIns="76200" bIns="57150" anchor="ctr">
            <a:normAutofit fontScale="96889"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Downsample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Conv1D k3, s2
T: 10 → 5</a:t>
            </a:r>
          </a:p>
        </p:txBody>
      </p:sp>
      <p:sp>
        <p:nvSpPr>
          <p:cNvPr id="32" name="unet-down-2">
            <a:extLst>
              <a:ext uri="{FF2B5EF4-FFF2-40B4-BE49-F238E27FC236}">
                <a16:creationId xmlns:a16="http://schemas.microsoft.com/office/drawing/2014/main" id="{E15F5454-76D0-4738-939B-05D923687441}"/>
              </a:ext>
            </a:extLst>
          </p:cNvPr>
          <p:cNvSpPr>
            <a:spLocks noGrp="1"/>
          </p:cNvSpPr>
          <p:nvPr/>
        </p:nvSpPr>
        <p:spPr>
          <a:xfrm>
            <a:off x="13487400" y="1866900"/>
            <a:ext cx="1295400" cy="723900"/>
          </a:xfrm>
          <a:prstGeom prst="roundRect">
            <a:avLst>
              <a:gd name="adj" fmla="val 15789"/>
            </a:avLst>
          </a:prstGeom>
          <a:solidFill>
            <a:srgbClr val="F1EBF8"/>
          </a:solidFill>
          <a:ln w="17145">
            <a:solidFill>
              <a:srgbClr val="7B61A8"/>
            </a:solidFill>
            <a:prstDash val="solid"/>
          </a:ln>
        </p:spPr>
        <p:txBody>
          <a:bodyPr lIns="76200" tIns="57150" rIns="76200" bIns="57150" anchor="ctr">
            <a:normAutofit fontScale="89577"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FiLM ResBlock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64 → 128, T = 5</a:t>
            </a:r>
          </a:p>
        </p:txBody>
      </p:sp>
      <p:sp>
        <p:nvSpPr>
          <p:cNvPr id="33" name="unet-middle">
            <a:extLst>
              <a:ext uri="{FF2B5EF4-FFF2-40B4-BE49-F238E27FC236}">
                <a16:creationId xmlns:a16="http://schemas.microsoft.com/office/drawing/2014/main" id="{2D37EFB5-92EE-4133-9BE6-E783FB3BF05A}"/>
              </a:ext>
            </a:extLst>
          </p:cNvPr>
          <p:cNvSpPr>
            <a:spLocks noGrp="1"/>
          </p:cNvSpPr>
          <p:nvPr/>
        </p:nvSpPr>
        <p:spPr>
          <a:xfrm>
            <a:off x="13296900" y="3343275"/>
            <a:ext cx="1485900" cy="838200"/>
          </a:xfrm>
          <a:prstGeom prst="roundRect">
            <a:avLst>
              <a:gd name="adj" fmla="val 13636"/>
            </a:avLst>
          </a:prstGeom>
          <a:solidFill>
            <a:srgbClr val="F1EBF8"/>
          </a:solidFill>
          <a:ln w="17145">
            <a:solidFill>
              <a:srgbClr val="7B61A8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Bottleneck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FiLM ResBlock
128 → 128, T = 5</a:t>
            </a:r>
          </a:p>
        </p:txBody>
      </p:sp>
      <p:sp>
        <p:nvSpPr>
          <p:cNvPr id="34" name="unet-skip-concat">
            <a:extLst>
              <a:ext uri="{FF2B5EF4-FFF2-40B4-BE49-F238E27FC236}">
                <a16:creationId xmlns:a16="http://schemas.microsoft.com/office/drawing/2014/main" id="{A1FB87D5-80E0-4C6C-91D1-86641474CAB9}"/>
              </a:ext>
            </a:extLst>
          </p:cNvPr>
          <p:cNvSpPr>
            <a:spLocks noGrp="1"/>
          </p:cNvSpPr>
          <p:nvPr/>
        </p:nvSpPr>
        <p:spPr>
          <a:xfrm>
            <a:off x="13296900" y="4810125"/>
            <a:ext cx="1485900" cy="723900"/>
          </a:xfrm>
          <a:prstGeom prst="roundRect">
            <a:avLst>
              <a:gd name="adj" fmla="val 15789"/>
            </a:avLst>
          </a:prstGeom>
          <a:solidFill>
            <a:srgbClr val="F4F6F8"/>
          </a:solidFill>
          <a:ln w="17145">
            <a:solidFill>
              <a:srgbClr val="7A8796"/>
            </a:solidFill>
            <a:prstDash val="solid"/>
          </a:ln>
        </p:spPr>
        <p:txBody>
          <a:bodyPr lIns="76200" tIns="57150" rIns="76200" bIns="57150" anchor="ctr">
            <a:normAutofit fontScale="89577"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Skip concatenate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128 ∥ 128 = 256</a:t>
            </a:r>
          </a:p>
        </p:txBody>
      </p:sp>
      <p:sp>
        <p:nvSpPr>
          <p:cNvPr id="35" name="unet-up-block">
            <a:extLst>
              <a:ext uri="{FF2B5EF4-FFF2-40B4-BE49-F238E27FC236}">
                <a16:creationId xmlns:a16="http://schemas.microsoft.com/office/drawing/2014/main" id="{6E791B36-4B30-46C0-B31C-1BBA51F1118E}"/>
              </a:ext>
            </a:extLst>
          </p:cNvPr>
          <p:cNvSpPr>
            <a:spLocks noGrp="1"/>
          </p:cNvSpPr>
          <p:nvPr/>
        </p:nvSpPr>
        <p:spPr>
          <a:xfrm>
            <a:off x="11601450" y="4810125"/>
            <a:ext cx="1428750" cy="723900"/>
          </a:xfrm>
          <a:prstGeom prst="roundRect">
            <a:avLst>
              <a:gd name="adj" fmla="val 15789"/>
            </a:avLst>
          </a:prstGeom>
          <a:solidFill>
            <a:srgbClr val="F1EBF8"/>
          </a:solidFill>
          <a:ln w="17145">
            <a:solidFill>
              <a:srgbClr val="7B61A8"/>
            </a:solidFill>
            <a:prstDash val="solid"/>
          </a:ln>
        </p:spPr>
        <p:txBody>
          <a:bodyPr lIns="76200" tIns="57150" rIns="76200" bIns="57150" anchor="ctr">
            <a:normAutofit fontScale="93129"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FiLM ResBlock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256 → 64, T = 5</a:t>
            </a:r>
          </a:p>
        </p:txBody>
      </p:sp>
      <p:sp>
        <p:nvSpPr>
          <p:cNvPr id="36" name="unet-upsample">
            <a:extLst>
              <a:ext uri="{FF2B5EF4-FFF2-40B4-BE49-F238E27FC236}">
                <a16:creationId xmlns:a16="http://schemas.microsoft.com/office/drawing/2014/main" id="{E5386C4C-E883-430B-92A4-9B8BC15C8AF3}"/>
              </a:ext>
            </a:extLst>
          </p:cNvPr>
          <p:cNvSpPr>
            <a:spLocks noGrp="1"/>
          </p:cNvSpPr>
          <p:nvPr/>
        </p:nvSpPr>
        <p:spPr>
          <a:xfrm>
            <a:off x="9906000" y="4810125"/>
            <a:ext cx="1428750" cy="723900"/>
          </a:xfrm>
          <a:prstGeom prst="roundRect">
            <a:avLst>
              <a:gd name="adj" fmla="val 15789"/>
            </a:avLst>
          </a:prstGeom>
          <a:solidFill>
            <a:srgbClr val="F4F6F8"/>
          </a:solidFill>
          <a:ln w="17145">
            <a:solidFill>
              <a:srgbClr val="7A8796"/>
            </a:solidFill>
            <a:prstDash val="solid"/>
          </a:ln>
        </p:spPr>
        <p:txBody>
          <a:bodyPr lIns="76200" tIns="57150" rIns="76200" bIns="57150" anchor="ctr">
            <a:normAutofit fontScale="96889"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Upsample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ConvTranspose1D
T: 5 → 10</a:t>
            </a:r>
          </a:p>
        </p:txBody>
      </p:sp>
      <p:sp>
        <p:nvSpPr>
          <p:cNvPr id="37" name="unet-output-head">
            <a:extLst>
              <a:ext uri="{FF2B5EF4-FFF2-40B4-BE49-F238E27FC236}">
                <a16:creationId xmlns:a16="http://schemas.microsoft.com/office/drawing/2014/main" id="{48131A50-8D74-4810-8EAD-8D3B26CA62D8}"/>
              </a:ext>
            </a:extLst>
          </p:cNvPr>
          <p:cNvSpPr>
            <a:spLocks noGrp="1"/>
          </p:cNvSpPr>
          <p:nvPr/>
        </p:nvSpPr>
        <p:spPr>
          <a:xfrm>
            <a:off x="8382000" y="4762500"/>
            <a:ext cx="1428750" cy="819150"/>
          </a:xfrm>
          <a:prstGeom prst="roundRect">
            <a:avLst>
              <a:gd name="adj" fmla="val 13953"/>
            </a:avLst>
          </a:prstGeom>
          <a:solidFill>
            <a:srgbClr val="EAF2FA"/>
          </a:solidFill>
          <a:ln w="17145">
            <a:solidFill>
              <a:srgbClr val="4C78A8"/>
            </a:solidFill>
            <a:prstDash val="solid"/>
          </a:ln>
        </p:spPr>
        <p:txBody>
          <a:bodyPr lIns="76200" tIns="57150" rIns="76200" bIns="57150" anchor="ctr">
            <a:normAutofit fontScale="95797"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Output head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ConvBlock 64 → 64
1 × 1 Conv: 64 → 6</a:t>
            </a:r>
          </a:p>
        </p:txBody>
      </p:sp>
      <p:sp>
        <p:nvSpPr>
          <p:cNvPr id="38" name="denoised-action">
            <a:extLst>
              <a:ext uri="{FF2B5EF4-FFF2-40B4-BE49-F238E27FC236}">
                <a16:creationId xmlns:a16="http://schemas.microsoft.com/office/drawing/2014/main" id="{0D32EFEC-D7D7-4A57-B345-5D4613F69F4E}"/>
              </a:ext>
            </a:extLst>
          </p:cNvPr>
          <p:cNvSpPr>
            <a:spLocks noGrp="1"/>
          </p:cNvSpPr>
          <p:nvPr/>
        </p:nvSpPr>
        <p:spPr>
          <a:xfrm>
            <a:off x="8382000" y="6096000"/>
            <a:ext cx="1581150" cy="723900"/>
          </a:xfrm>
          <a:prstGeom prst="roundRect">
            <a:avLst>
              <a:gd name="adj" fmla="val 15789"/>
            </a:avLst>
          </a:prstGeom>
          <a:solidFill>
            <a:srgbClr val="FBEAEC"/>
          </a:solidFill>
          <a:ln w="17145">
            <a:solidFill>
              <a:srgbClr val="B75D69"/>
            </a:solidFill>
            <a:prstDash val="solid"/>
          </a:ln>
        </p:spPr>
        <p:txBody>
          <a:bodyPr lIns="76200" tIns="57150" rIns="76200" bIns="57150" anchor="ctr">
            <a:normAutofit fontScale="89577"/>
          </a:bodyPr>
          <a:lstStyle/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Denoised trajectory</a:t>
            </a:r>
          </a:p>
          <a:p>
            <a:pPr algn="ctr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B × 10 × 6</a:t>
            </a:r>
          </a:p>
        </p:txBody>
      </p:sp>
      <p:cxnSp>
        <p:nvCxnSpPr>
          <p:cNvPr id="110" name="直线箭头连接符 109"/>
          <p:cNvCxnSpPr>
            <a:stCxn id="12" idx="3"/>
            <a:endCxn id="13" idx="1"/>
          </p:cNvCxnSpPr>
          <p:nvPr/>
        </p:nvCxnSpPr>
        <p:spPr>
          <a:xfrm>
            <a:off x="1809750" y="2066925"/>
            <a:ext cx="30480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11" name="直线箭头连接符 110"/>
          <p:cNvCxnSpPr>
            <a:stCxn id="13" idx="3"/>
            <a:endCxn id="14" idx="1"/>
          </p:cNvCxnSpPr>
          <p:nvPr/>
        </p:nvCxnSpPr>
        <p:spPr>
          <a:xfrm>
            <a:off x="3733800" y="2066925"/>
            <a:ext cx="30480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12" name="直线箭头连接符 111"/>
          <p:cNvCxnSpPr>
            <a:stCxn id="14" idx="2"/>
            <a:endCxn id="15" idx="0"/>
          </p:cNvCxnSpPr>
          <p:nvPr/>
        </p:nvCxnSpPr>
        <p:spPr>
          <a:xfrm>
            <a:off x="4686300" y="2419350"/>
            <a:ext cx="0" cy="19050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13" name="直线箭头连接符 112"/>
          <p:cNvCxnSpPr>
            <a:stCxn id="16" idx="3"/>
            <a:endCxn id="17" idx="1"/>
          </p:cNvCxnSpPr>
          <p:nvPr/>
        </p:nvCxnSpPr>
        <p:spPr>
          <a:xfrm>
            <a:off x="2114550" y="3305175"/>
            <a:ext cx="30480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14" name="直线箭头连接符 113"/>
          <p:cNvCxnSpPr>
            <a:stCxn id="17" idx="3"/>
            <a:endCxn id="18" idx="1"/>
          </p:cNvCxnSpPr>
          <p:nvPr/>
        </p:nvCxnSpPr>
        <p:spPr>
          <a:xfrm>
            <a:off x="3943350" y="3305175"/>
            <a:ext cx="171450" cy="36195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15" name="肘形连接符 114"/>
          <p:cNvCxnSpPr>
            <a:stCxn id="15" idx="2"/>
            <a:endCxn id="18" idx="0"/>
          </p:cNvCxnSpPr>
          <p:nvPr/>
        </p:nvCxnSpPr>
        <p:spPr>
          <a:xfrm>
            <a:off x="4686300" y="3257550"/>
            <a:ext cx="38100" cy="952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16" name="直线箭头连接符 115"/>
          <p:cNvCxnSpPr>
            <a:stCxn id="19" idx="3"/>
            <a:endCxn id="20" idx="1"/>
          </p:cNvCxnSpPr>
          <p:nvPr/>
        </p:nvCxnSpPr>
        <p:spPr>
          <a:xfrm flipV="1">
            <a:off x="1924050" y="5219700"/>
            <a:ext cx="285750" cy="9525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17" name="直线箭头连接符 116"/>
          <p:cNvCxnSpPr>
            <a:stCxn id="20" idx="3"/>
            <a:endCxn id="21" idx="1"/>
          </p:cNvCxnSpPr>
          <p:nvPr/>
        </p:nvCxnSpPr>
        <p:spPr>
          <a:xfrm>
            <a:off x="3771900" y="5219700"/>
            <a:ext cx="285750" cy="9525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18" name="直线箭头连接符 117"/>
          <p:cNvCxnSpPr>
            <a:stCxn id="21" idx="2"/>
            <a:endCxn id="22" idx="0"/>
          </p:cNvCxnSpPr>
          <p:nvPr/>
        </p:nvCxnSpPr>
        <p:spPr>
          <a:xfrm>
            <a:off x="4695825" y="5600700"/>
            <a:ext cx="0" cy="257175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19" name="肘形连接符 118"/>
          <p:cNvCxnSpPr>
            <a:stCxn id="18" idx="3"/>
            <a:endCxn id="23" idx="1"/>
          </p:cNvCxnSpPr>
          <p:nvPr/>
        </p:nvCxnSpPr>
        <p:spPr>
          <a:xfrm flipV="1">
            <a:off x="5334000" y="2314575"/>
            <a:ext cx="571500" cy="1352550"/>
          </a:xfrm>
          <a:prstGeom prst="bentConnector3">
            <a:avLst>
              <a:gd name="adj1" fmla="val 50000"/>
            </a:avLst>
          </a:prstGeom>
          <a:ln w="19050">
            <a:solidFill>
              <a:srgbClr val="4C8E5F"/>
            </a:solidFill>
            <a:prstDash val="solid"/>
            <a:tailEnd type="triangle" w="sm" len="sm"/>
          </a:ln>
        </p:spPr>
      </p:cxnSp>
      <p:cxnSp>
        <p:nvCxnSpPr>
          <p:cNvPr id="120" name="肘形连接符 119"/>
          <p:cNvCxnSpPr>
            <a:stCxn id="22" idx="3"/>
            <a:endCxn id="23" idx="1"/>
          </p:cNvCxnSpPr>
          <p:nvPr/>
        </p:nvCxnSpPr>
        <p:spPr>
          <a:xfrm flipV="1">
            <a:off x="5334000" y="2314575"/>
            <a:ext cx="571500" cy="3933825"/>
          </a:xfrm>
          <a:prstGeom prst="bentConnector3">
            <a:avLst>
              <a:gd name="adj1" fmla="val 50000"/>
            </a:avLst>
          </a:prstGeom>
          <a:ln w="19050">
            <a:solidFill>
              <a:srgbClr val="4C8E5F"/>
            </a:solidFill>
            <a:prstDash val="solid"/>
            <a:tailEnd type="triangle" w="sm" len="sm"/>
          </a:ln>
        </p:spPr>
      </p:cxnSp>
      <p:cxnSp>
        <p:nvCxnSpPr>
          <p:cNvPr id="121" name="直线箭头连接符 120"/>
          <p:cNvCxnSpPr>
            <a:stCxn id="23" idx="2"/>
            <a:endCxn id="24" idx="0"/>
          </p:cNvCxnSpPr>
          <p:nvPr/>
        </p:nvCxnSpPr>
        <p:spPr>
          <a:xfrm>
            <a:off x="6905625" y="2686050"/>
            <a:ext cx="0" cy="276225"/>
          </a:xfrm>
          <a:prstGeom prst="straightConnector1">
            <a:avLst/>
          </a:prstGeom>
          <a:ln w="19050">
            <a:solidFill>
              <a:srgbClr val="4C8E5F"/>
            </a:solidFill>
            <a:prstDash val="solid"/>
            <a:tailEnd type="triangle" w="sm" len="sm"/>
          </a:ln>
        </p:spPr>
      </p:cxnSp>
      <p:cxnSp>
        <p:nvCxnSpPr>
          <p:cNvPr id="122" name="直线箭头连接符 121"/>
          <p:cNvCxnSpPr>
            <a:stCxn id="24" idx="2"/>
            <a:endCxn id="25" idx="0"/>
          </p:cNvCxnSpPr>
          <p:nvPr/>
        </p:nvCxnSpPr>
        <p:spPr>
          <a:xfrm>
            <a:off x="6905625" y="3800475"/>
            <a:ext cx="0" cy="276225"/>
          </a:xfrm>
          <a:prstGeom prst="straightConnector1">
            <a:avLst/>
          </a:prstGeom>
          <a:ln w="19050">
            <a:solidFill>
              <a:srgbClr val="4C8E5F"/>
            </a:solidFill>
            <a:prstDash val="solid"/>
            <a:tailEnd type="triangle" w="sm" len="sm"/>
          </a:ln>
        </p:spPr>
      </p:cxnSp>
      <p:cxnSp>
        <p:nvCxnSpPr>
          <p:cNvPr id="123" name="直线箭头连接符 122"/>
          <p:cNvCxnSpPr>
            <a:stCxn id="26" idx="3"/>
            <a:endCxn id="27" idx="1"/>
          </p:cNvCxnSpPr>
          <p:nvPr/>
        </p:nvCxnSpPr>
        <p:spPr>
          <a:xfrm>
            <a:off x="6896100" y="5667375"/>
            <a:ext cx="171450" cy="0"/>
          </a:xfrm>
          <a:prstGeom prst="straightConnector1">
            <a:avLst/>
          </a:prstGeom>
          <a:ln w="19050">
            <a:solidFill>
              <a:srgbClr val="7B61A8"/>
            </a:solidFill>
            <a:prstDash val="solid"/>
            <a:tailEnd type="triangle" w="sm" len="sm"/>
          </a:ln>
        </p:spPr>
      </p:cxnSp>
      <p:cxnSp>
        <p:nvCxnSpPr>
          <p:cNvPr id="124" name="肘形连接符 123"/>
          <p:cNvCxnSpPr>
            <a:stCxn id="27" idx="2"/>
            <a:endCxn id="28" idx="0"/>
          </p:cNvCxnSpPr>
          <p:nvPr/>
        </p:nvCxnSpPr>
        <p:spPr>
          <a:xfrm flipH="1">
            <a:off x="7277100" y="6086475"/>
            <a:ext cx="352425" cy="4095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7B61A8"/>
            </a:solidFill>
            <a:prstDash val="solid"/>
            <a:tailEnd type="triangle" w="sm" len="sm"/>
          </a:ln>
        </p:spPr>
      </p:cxnSp>
      <p:cxnSp>
        <p:nvCxnSpPr>
          <p:cNvPr id="125" name="肘形连接符 124"/>
          <p:cNvCxnSpPr>
            <a:stCxn id="25" idx="2"/>
            <a:endCxn id="28" idx="1"/>
          </p:cNvCxnSpPr>
          <p:nvPr/>
        </p:nvCxnSpPr>
        <p:spPr>
          <a:xfrm flipH="1">
            <a:off x="5791200" y="4781550"/>
            <a:ext cx="1114425" cy="2114550"/>
          </a:xfrm>
          <a:prstGeom prst="bentConnector4">
            <a:avLst/>
          </a:prstGeom>
          <a:ln w="19050">
            <a:solidFill>
              <a:srgbClr val="7B61A8"/>
            </a:solidFill>
            <a:prstDash val="solid"/>
            <a:tailEnd type="triangle" w="sm" len="sm"/>
          </a:ln>
        </p:spPr>
      </p:cxnSp>
      <p:cxnSp>
        <p:nvCxnSpPr>
          <p:cNvPr id="126" name="直线箭头连接符 125"/>
          <p:cNvCxnSpPr>
            <a:stCxn id="29" idx="3"/>
            <a:endCxn id="30" idx="1"/>
          </p:cNvCxnSpPr>
          <p:nvPr/>
        </p:nvCxnSpPr>
        <p:spPr>
          <a:xfrm>
            <a:off x="9925050" y="2228850"/>
            <a:ext cx="26670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27" name="直线箭头连接符 126"/>
          <p:cNvCxnSpPr>
            <a:stCxn id="30" idx="3"/>
            <a:endCxn id="31" idx="1"/>
          </p:cNvCxnSpPr>
          <p:nvPr/>
        </p:nvCxnSpPr>
        <p:spPr>
          <a:xfrm>
            <a:off x="11620500" y="2228850"/>
            <a:ext cx="26670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28" name="直线箭头连接符 127"/>
          <p:cNvCxnSpPr>
            <a:stCxn id="31" idx="3"/>
            <a:endCxn id="32" idx="1"/>
          </p:cNvCxnSpPr>
          <p:nvPr/>
        </p:nvCxnSpPr>
        <p:spPr>
          <a:xfrm>
            <a:off x="13220700" y="2228850"/>
            <a:ext cx="26670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29" name="肘形连接符 128"/>
          <p:cNvCxnSpPr>
            <a:stCxn id="32" idx="2"/>
            <a:endCxn id="33" idx="0"/>
          </p:cNvCxnSpPr>
          <p:nvPr/>
        </p:nvCxnSpPr>
        <p:spPr>
          <a:xfrm flipH="1">
            <a:off x="14039850" y="2590800"/>
            <a:ext cx="95250" cy="7524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30" name="直线箭头连接符 129"/>
          <p:cNvCxnSpPr>
            <a:stCxn id="33" idx="2"/>
            <a:endCxn id="34" idx="0"/>
          </p:cNvCxnSpPr>
          <p:nvPr/>
        </p:nvCxnSpPr>
        <p:spPr>
          <a:xfrm>
            <a:off x="14039850" y="4181475"/>
            <a:ext cx="0" cy="62865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31" name="直线箭头连接符 130"/>
          <p:cNvCxnSpPr>
            <a:stCxn id="34" idx="1"/>
            <a:endCxn id="35" idx="3"/>
          </p:cNvCxnSpPr>
          <p:nvPr/>
        </p:nvCxnSpPr>
        <p:spPr>
          <a:xfrm flipH="1">
            <a:off x="13030200" y="5172075"/>
            <a:ext cx="26670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32" name="直线箭头连接符 131"/>
          <p:cNvCxnSpPr>
            <a:stCxn id="35" idx="1"/>
            <a:endCxn id="36" idx="3"/>
          </p:cNvCxnSpPr>
          <p:nvPr/>
        </p:nvCxnSpPr>
        <p:spPr>
          <a:xfrm flipH="1">
            <a:off x="11334750" y="5172075"/>
            <a:ext cx="26670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33" name="直线箭头连接符 132"/>
          <p:cNvCxnSpPr>
            <a:stCxn id="36" idx="1"/>
            <a:endCxn id="37" idx="3"/>
          </p:cNvCxnSpPr>
          <p:nvPr/>
        </p:nvCxnSpPr>
        <p:spPr>
          <a:xfrm flipH="1">
            <a:off x="9810750" y="5172075"/>
            <a:ext cx="95250" cy="0"/>
          </a:xfrm>
          <a:prstGeom prst="straightConnector1">
            <a:avLst/>
          </a:prstGeom>
          <a:ln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34" name="直线箭头连接符 133"/>
          <p:cNvCxnSpPr>
            <a:stCxn id="37" idx="2"/>
            <a:endCxn id="38" idx="0"/>
          </p:cNvCxnSpPr>
          <p:nvPr/>
        </p:nvCxnSpPr>
        <p:spPr>
          <a:xfrm>
            <a:off x="9096375" y="5581650"/>
            <a:ext cx="76200" cy="514350"/>
          </a:xfrm>
          <a:prstGeom prst="straightConnector1">
            <a:avLst/>
          </a:prstGeom>
          <a:ln w="19050">
            <a:solidFill>
              <a:srgbClr val="B75D69"/>
            </a:solidFill>
            <a:prstDash val="solid"/>
            <a:tailEnd type="triangle" w="sm" len="sm"/>
          </a:ln>
        </p:spPr>
      </p:cxnSp>
      <p:cxnSp>
        <p:nvCxnSpPr>
          <p:cNvPr id="135" name="肘形连接符 134"/>
          <p:cNvCxnSpPr>
            <a:stCxn id="32" idx="2"/>
            <a:endCxn id="34" idx="3"/>
          </p:cNvCxnSpPr>
          <p:nvPr/>
        </p:nvCxnSpPr>
        <p:spPr>
          <a:xfrm>
            <a:off x="14135100" y="2590800"/>
            <a:ext cx="876300" cy="2581275"/>
          </a:xfrm>
          <a:prstGeom prst="bentConnector4">
            <a:avLst/>
          </a:prstGeom>
          <a:ln w="19050">
            <a:solidFill>
              <a:srgbClr val="AEB9C8"/>
            </a:solidFill>
            <a:prstDash val="dash"/>
            <a:tailEnd type="triangle" w="sm" len="sm"/>
          </a:ln>
        </p:spPr>
      </p:cxnSp>
      <p:cxnSp>
        <p:nvCxnSpPr>
          <p:cNvPr id="136" name="肘形连接符 135"/>
          <p:cNvCxnSpPr>
            <a:stCxn id="28" idx="3"/>
            <a:endCxn id="30" idx="2"/>
          </p:cNvCxnSpPr>
          <p:nvPr/>
        </p:nvCxnSpPr>
        <p:spPr>
          <a:xfrm flipV="1">
            <a:off x="8096250" y="2590800"/>
            <a:ext cx="2809875" cy="4305300"/>
          </a:xfrm>
          <a:prstGeom prst="bentConnector2">
            <a:avLst/>
          </a:prstGeom>
          <a:ln w="15240">
            <a:solidFill>
              <a:srgbClr val="7B61A8"/>
            </a:solidFill>
            <a:prstDash val="dash"/>
            <a:tailEnd type="triangle" w="sm" len="sm"/>
          </a:ln>
        </p:spPr>
      </p:cxnSp>
      <p:cxnSp>
        <p:nvCxnSpPr>
          <p:cNvPr id="137" name="肘形连接符 136"/>
          <p:cNvCxnSpPr>
            <a:stCxn id="28" idx="3"/>
            <a:endCxn id="32" idx="2"/>
          </p:cNvCxnSpPr>
          <p:nvPr/>
        </p:nvCxnSpPr>
        <p:spPr>
          <a:xfrm flipV="1">
            <a:off x="8096250" y="2590800"/>
            <a:ext cx="6038850" cy="4305300"/>
          </a:xfrm>
          <a:prstGeom prst="bentConnector2">
            <a:avLst/>
          </a:prstGeom>
          <a:ln w="15240">
            <a:solidFill>
              <a:srgbClr val="7B61A8"/>
            </a:solidFill>
            <a:prstDash val="dash"/>
            <a:tailEnd type="triangle" w="sm" len="sm"/>
          </a:ln>
        </p:spPr>
      </p:cxnSp>
      <p:cxnSp>
        <p:nvCxnSpPr>
          <p:cNvPr id="138" name="肘形连接符 137"/>
          <p:cNvCxnSpPr>
            <a:stCxn id="28" idx="3"/>
            <a:endCxn id="33" idx="2"/>
          </p:cNvCxnSpPr>
          <p:nvPr/>
        </p:nvCxnSpPr>
        <p:spPr>
          <a:xfrm flipV="1">
            <a:off x="8096250" y="4181475"/>
            <a:ext cx="5943600" cy="2714625"/>
          </a:xfrm>
          <a:prstGeom prst="bentConnector2">
            <a:avLst/>
          </a:prstGeom>
          <a:ln w="15240">
            <a:solidFill>
              <a:srgbClr val="7B61A8"/>
            </a:solidFill>
            <a:prstDash val="dash"/>
            <a:tailEnd type="triangle" w="sm" len="sm"/>
          </a:ln>
        </p:spPr>
      </p:cxnSp>
      <p:cxnSp>
        <p:nvCxnSpPr>
          <p:cNvPr id="139" name="肘形连接符 138"/>
          <p:cNvCxnSpPr>
            <a:stCxn id="28" idx="3"/>
            <a:endCxn id="35" idx="2"/>
          </p:cNvCxnSpPr>
          <p:nvPr/>
        </p:nvCxnSpPr>
        <p:spPr>
          <a:xfrm flipV="1">
            <a:off x="8096250" y="5534025"/>
            <a:ext cx="4219575" cy="1362075"/>
          </a:xfrm>
          <a:prstGeom prst="bentConnector2">
            <a:avLst/>
          </a:prstGeom>
          <a:ln w="15240">
            <a:solidFill>
              <a:srgbClr val="7B61A8"/>
            </a:solidFill>
            <a:prstDash val="dash"/>
            <a:tailEnd type="triangle" w="sm" len="sm"/>
          </a:ln>
        </p:spPr>
      </p:cxnSp>
      <p:sp>
        <p:nvSpPr>
          <p:cNvPr id="69" name="resblock-key">
            <a:extLst>
              <a:ext uri="{FF2B5EF4-FFF2-40B4-BE49-F238E27FC236}">
                <a16:creationId xmlns:a16="http://schemas.microsoft.com/office/drawing/2014/main" id="{148ED529-0778-4334-BDBD-CEFDC1B1CC8D}"/>
              </a:ext>
            </a:extLst>
          </p:cNvPr>
          <p:cNvSpPr>
            <a:spLocks noGrp="1"/>
          </p:cNvSpPr>
          <p:nvPr/>
        </p:nvSpPr>
        <p:spPr>
          <a:xfrm>
            <a:off x="10096500" y="6229350"/>
            <a:ext cx="4686300" cy="1066800"/>
          </a:xfrm>
          <a:prstGeom prst="roundRect">
            <a:avLst>
              <a:gd name="adj" fmla="val 8929"/>
            </a:avLst>
          </a:prstGeom>
          <a:solidFill>
            <a:srgbClr val="F4F6F8"/>
          </a:solidFill>
          <a:ln w="13335">
            <a:solidFill>
              <a:srgbClr val="AEB9C8"/>
            </a:solidFill>
            <a:prstDash val="solid"/>
          </a:ln>
        </p:spPr>
        <p:txBody>
          <a:bodyPr lIns="133350" tIns="76200" rIns="133350" bIns="76200" anchor="ctr">
            <a:normAutofit/>
          </a:bodyPr>
          <a:lstStyle/>
          <a:p>
            <a:pPr algn="l">
              <a:defRPr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Conditional residual block</a:t>
            </a:r>
          </a:p>
          <a:p>
            <a:pPr algn="l"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071"/>
                </a:solidFill>
                <a:latin typeface="Arial"/>
                <a:ea typeface="Arial"/>
                <a:cs typeface="Arial"/>
              </a:rPr>
              <a:t>[Conv1D(k=5) → GroupNorm(8) → Mish] × 2 + residual</a:t>
            </a:r>
          </a:p>
          <a:p>
            <a:pPr algn="l">
              <a:defRPr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36071"/>
                </a:solidFill>
                <a:latin typeface="Arial"/>
                <a:ea typeface="Arial"/>
                <a:cs typeface="Arial"/>
              </a:rPr>
              <a:t>FiLM scale and bias are applied after the first convolution block.</a:t>
            </a:r>
          </a:p>
        </p:txBody>
      </p:sp>
      <p:sp>
        <p:nvSpPr>
          <p:cNvPr id="70" name="footer-rule">
            <a:extLst>
              <a:ext uri="{FF2B5EF4-FFF2-40B4-BE49-F238E27FC236}">
                <a16:creationId xmlns:a16="http://schemas.microsoft.com/office/drawing/2014/main" id="{069821BF-21BC-46C6-8D2C-F014D516188A}"/>
              </a:ext>
            </a:extLst>
          </p:cNvPr>
          <p:cNvSpPr>
            <a:spLocks noGrp="1"/>
          </p:cNvSpPr>
          <p:nvPr/>
        </p:nvSpPr>
        <p:spPr>
          <a:xfrm>
            <a:off x="571500" y="7810500"/>
            <a:ext cx="14097000" cy="0"/>
          </a:xfrm>
          <a:prstGeom prst="line">
            <a:avLst/>
          </a:prstGeom>
          <a:noFill/>
          <a:ln w="11430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footer-note">
            <a:extLst>
              <a:ext uri="{FF2B5EF4-FFF2-40B4-BE49-F238E27FC236}">
                <a16:creationId xmlns:a16="http://schemas.microsoft.com/office/drawing/2014/main" id="{2F902593-E637-4D15-9582-6D90B6C117F3}"/>
              </a:ext>
            </a:extLst>
          </p:cNvPr>
          <p:cNvSpPr>
            <a:spLocks noGrp="1"/>
          </p:cNvSpPr>
          <p:nvPr/>
        </p:nvSpPr>
        <p:spPr>
          <a:xfrm>
            <a:off x="571500" y="7915275"/>
            <a:ext cx="1409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20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Horizon = 10  •  Action dimension = 6  •  Observation steps = 1  •  All encoder features condition the denoising network globally</a:t>
            </a:r>
          </a:p>
        </p:txBody>
      </p:sp>
    </p:spTree>
    <p:extLst>
      <p:ext uri="{BB962C8B-B14F-4D97-AF65-F5344CB8AC3E}">
        <p14:creationId xmlns:p14="http://schemas.microsoft.com/office/powerpoint/2010/main" val="187117057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</Words>
  <Application>Microsoft Macintosh PowerPoint</Application>
  <DocSecurity>0</DocSecurity>
  <PresentationFormat>自定义</PresentationFormat>
  <Paragraphs>65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Changjin Yan</cp:lastModifiedBy>
  <cp:revision>1</cp:revision>
  <dcterms:created xsi:type="dcterms:W3CDTF">2026-07-24T02:28:24Z</dcterms:created>
  <dcterms:modified xsi:type="dcterms:W3CDTF">2026-07-24T02:29:50Z</dcterms:modified>
</cp:coreProperties>
</file>